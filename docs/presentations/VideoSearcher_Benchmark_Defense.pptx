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D5218-8079-FABD-6EFC-0D94B0866564}" v="14" dt="2026-07-23T13:43:38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818"/>
  </p:normalViewPr>
  <p:slideViewPr>
    <p:cSldViewPr snapToGrid="0">
      <p:cViewPr varScale="1">
        <p:scale>
          <a:sx n="75" d="100"/>
          <a:sy n="75" d="100"/>
        </p:scale>
        <p:origin x="184" y="1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Scappatura" userId="8f4eca66-40e3-45bb-95df-a57df9009e92" providerId="ADAL" clId="{12AED520-8DC8-5382-9DDA-C7BD1D0AE920}"/>
    <pc:docChg chg="modSld">
      <pc:chgData name="Leonardo Scappatura" userId="8f4eca66-40e3-45bb-95df-a57df9009e92" providerId="ADAL" clId="{12AED520-8DC8-5382-9DDA-C7BD1D0AE920}" dt="2026-07-23T14:23:53.299" v="2" actId="113"/>
      <pc:docMkLst>
        <pc:docMk/>
      </pc:docMkLst>
      <pc:sldChg chg="modSp mod">
        <pc:chgData name="Leonardo Scappatura" userId="8f4eca66-40e3-45bb-95df-a57df9009e92" providerId="ADAL" clId="{12AED520-8DC8-5382-9DDA-C7BD1D0AE920}" dt="2026-07-23T14:23:53.299" v="2" actId="113"/>
        <pc:sldMkLst>
          <pc:docMk/>
          <pc:sldMk cId="0" sldId="259"/>
        </pc:sldMkLst>
        <pc:graphicFrameChg chg="modGraphic">
          <ac:chgData name="Leonardo Scappatura" userId="8f4eca66-40e3-45bb-95df-a57df9009e92" providerId="ADAL" clId="{12AED520-8DC8-5382-9DDA-C7BD1D0AE920}" dt="2026-07-23T14:23:53.299" v="2" actId="113"/>
          <ac:graphicFrameMkLst>
            <pc:docMk/>
            <pc:sldMk cId="0" sldId="259"/>
            <ac:graphicFrameMk id="4" creationId="{00000000-0000-0000-0000-000000000000}"/>
          </ac:graphicFrameMkLst>
        </pc:graphicFrameChg>
      </pc:sldChg>
    </pc:docChg>
  </pc:docChgLst>
  <pc:docChgLst>
    <pc:chgData name="Stefano Garzoni" userId="S::10860328@polimi.it::f98d5a53-67b4-4767-9a66-c7e198f964cd" providerId="AD" clId="Web-{0496B558-941D-C155-CC20-EB02E9985C0F}"/>
    <pc:docChg chg="modSld">
      <pc:chgData name="Stefano Garzoni" userId="S::10860328@polimi.it::f98d5a53-67b4-4767-9a66-c7e198f964cd" providerId="AD" clId="Web-{0496B558-941D-C155-CC20-EB02E9985C0F}" dt="2026-07-19T10:52:52.691" v="48" actId="20577"/>
      <pc:docMkLst>
        <pc:docMk/>
      </pc:docMkLst>
      <pc:sldChg chg="modSp">
        <pc:chgData name="Stefano Garzoni" userId="S::10860328@polimi.it::f98d5a53-67b4-4767-9a66-c7e198f964cd" providerId="AD" clId="Web-{0496B558-941D-C155-CC20-EB02E9985C0F}" dt="2026-07-19T10:52:52.691" v="48" actId="20577"/>
        <pc:sldMkLst>
          <pc:docMk/>
          <pc:sldMk cId="0" sldId="256"/>
        </pc:sldMkLst>
        <pc:spChg chg="mod">
          <ac:chgData name="Stefano Garzoni" userId="S::10860328@polimi.it::f98d5a53-67b4-4767-9a66-c7e198f964cd" providerId="AD" clId="Web-{0496B558-941D-C155-CC20-EB02E9985C0F}" dt="2026-07-19T10:52:52.691" v="4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Stefano Garzoni" userId="S::10860328@polimi.it::f98d5a53-67b4-4767-9a66-c7e198f964cd" providerId="AD" clId="Web-{8B5D5218-8079-FABD-6EFC-0D94B0866564}"/>
    <pc:docChg chg="modSld">
      <pc:chgData name="Stefano Garzoni" userId="S::10860328@polimi.it::f98d5a53-67b4-4767-9a66-c7e198f964cd" providerId="AD" clId="Web-{8B5D5218-8079-FABD-6EFC-0D94B0866564}" dt="2026-07-23T13:43:38.776" v="13" actId="1076"/>
      <pc:docMkLst>
        <pc:docMk/>
      </pc:docMkLst>
      <pc:sldChg chg="addSp delSp modSp">
        <pc:chgData name="Stefano Garzoni" userId="S::10860328@polimi.it::f98d5a53-67b4-4767-9a66-c7e198f964cd" providerId="AD" clId="Web-{8B5D5218-8079-FABD-6EFC-0D94B0866564}" dt="2026-07-23T13:43:38.776" v="13" actId="1076"/>
        <pc:sldMkLst>
          <pc:docMk/>
          <pc:sldMk cId="0" sldId="257"/>
        </pc:sldMkLst>
        <pc:spChg chg="del">
          <ac:chgData name="Stefano Garzoni" userId="S::10860328@polimi.it::f98d5a53-67b4-4767-9a66-c7e198f964cd" providerId="AD" clId="Web-{8B5D5218-8079-FABD-6EFC-0D94B0866564}" dt="2026-07-23T13:42:51.133" v="8"/>
          <ac:spMkLst>
            <pc:docMk/>
            <pc:sldMk cId="0" sldId="257"/>
            <ac:spMk id="4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7"/>
          <ac:spMkLst>
            <pc:docMk/>
            <pc:sldMk cId="0" sldId="257"/>
            <ac:spMk id="5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6"/>
          <ac:spMkLst>
            <pc:docMk/>
            <pc:sldMk cId="0" sldId="257"/>
            <ac:spMk id="6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5"/>
          <ac:spMkLst>
            <pc:docMk/>
            <pc:sldMk cId="0" sldId="257"/>
            <ac:spMk id="7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4"/>
          <ac:spMkLst>
            <pc:docMk/>
            <pc:sldMk cId="0" sldId="257"/>
            <ac:spMk id="8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3"/>
          <ac:spMkLst>
            <pc:docMk/>
            <pc:sldMk cId="0" sldId="257"/>
            <ac:spMk id="9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2"/>
          <ac:spMkLst>
            <pc:docMk/>
            <pc:sldMk cId="0" sldId="257"/>
            <ac:spMk id="10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1"/>
          <ac:spMkLst>
            <pc:docMk/>
            <pc:sldMk cId="0" sldId="257"/>
            <ac:spMk id="11" creationId="{00000000-0000-0000-0000-000000000000}"/>
          </ac:spMkLst>
        </pc:spChg>
        <pc:spChg chg="del">
          <ac:chgData name="Stefano Garzoni" userId="S::10860328@polimi.it::f98d5a53-67b4-4767-9a66-c7e198f964cd" providerId="AD" clId="Web-{8B5D5218-8079-FABD-6EFC-0D94B0866564}" dt="2026-07-23T13:42:51.133" v="0"/>
          <ac:spMkLst>
            <pc:docMk/>
            <pc:sldMk cId="0" sldId="257"/>
            <ac:spMk id="12" creationId="{00000000-0000-0000-0000-000000000000}"/>
          </ac:spMkLst>
        </pc:spChg>
        <pc:picChg chg="add mod modCrop">
          <ac:chgData name="Stefano Garzoni" userId="S::10860328@polimi.it::f98d5a53-67b4-4767-9a66-c7e198f964cd" providerId="AD" clId="Web-{8B5D5218-8079-FABD-6EFC-0D94B0866564}" dt="2026-07-23T13:43:38.776" v="13" actId="1076"/>
          <ac:picMkLst>
            <pc:docMk/>
            <pc:sldMk cId="0" sldId="257"/>
            <ac:picMk id="13" creationId="{2E8CEFDE-BA20-8E89-91E7-DB035C6091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493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defense of VideoSearcher AgenticAI. Two contributions: (1) a 5-model orchestrator-LLM benchmark on a 66-run suite, and (2) Bayesian sampling-parameter tuning with d-MALIBOO, including an honest analysis of evaluation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orchestrator LLM runs locally (GGUF via llama-server) and routes each natural-language request through 12 Dockerized MCP tool servers — ffmpeg, Whisper transcription, librosa, grep, summarize, scene-detect, web-search, segmentation — plus an in-process Phi-4-reasoning-vision VQA model. Every configuration is evaluated on the 66-run suite: 22 scenarios × 3 prompt levels (vague / clear / algorithmic), each run gated on handoff ∧ vision ∧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orchestrators: two MoE (qwen3.6-35B-A3B, gpt-oss-120b) and three dense (gemma-4-12b, gemma-4-E2B, qwen3.6-27B). All benchmarked with default sampling on the full 66-run suite, 14 metrics recorded per run. Hardware: DGX GB10, 128 GB unified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qwen3.6-A3B leads: 95.5% overall, 100% result, 29.1 Wh per suite → 2163 passes/kWh. gemma-4-12b is the accuracy runner-up (93.9%, best handoff 97.0%) but at 92.8 Wh. gpt-oss-120b ties qwen3.6-27B at 87.9% overall while using a third of the energy (28.3 vs 86.5 Wh). Vision is 100% for three models; result reaches 100% only for a3b.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Accuracy vs energy per suite: the two MoEs (a3b 29.1 Wh, gpt-oss 28.3 Wh) sit on the Pareto frontier; dense models pay roughly 3× the energy for equal or lower accuracy. a3b combines the best overall score (95.5%) with 2163 passes/kWh.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 prompt level: the algorithmic level is near-saturated for all five models; vague prompts are where the models separate — gpt-oss drops to 81.8% on vague.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Tuning with d-MALIBOO (PoliMI): 384-point grid — temperature {0.2..0.9}, top-p {0.65, 0.70, 0.77, 0.84, 0.91, 0.98}, top-k {10..80}. Budget: 5 random init + 95 guided trials per model. Gaussian-Process surrogate with Matérn kernel; Expected Improvement acquisition augmented by an MLP classifier — trials are guided, not random. Objective: suite Overall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Convergence: after the 5 random-init points, the guided search reaches each model's plateau within roughly 20–50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Best score per temperature × top-p cell: gemma shows a broad low-temperature / low-top-k plateau, gpt-oss is patchier, a3b is flat. Gray cells were never sampled by the Bayesian 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Exploration path of the BO on the winner model: random-init squares, early→late color ramp, winner starred — a clear shift from exploration to exploitation.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Sensitivity across ~100 full-suite evaluations per model: gpt-oss spans 13.6 points, so sampling matters; a3b spans only 6 — 107 configs within 86.4–92.4 — and its default run (95.5) remains the best observed, so keep defaults for a3b. Winners over completed full-suite trials: gemma-E2B 95.5% @ t0.40/p0.65/k10 (7-way tie at 95.5, +4.6 vs default 90.9); gpt-oss-120b 92.4% @ t0.30/p0.98/k20 (+4.5 vs default 87.9). Both improvable models optimize in the low-temperature / small-top-k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methodological caveat, presented honestly: re-running each winner twice (a3b on defaults) shows single-shot scores are optimistically biased — gemma-E2B 95.5 → mean 93.2 (−2.3), gpt-oss 92.4 → 86.3 (−6.1), a3b defaults 95.5 → 90.2 (−5.3). The objective is stochastic (orchestrator sampling gives a run-to-run spread of 1.5–3.1 points); BO maximizes over noisy single evaluations, so reported winners are optimistically biased — max-of-noisy-samples. The hierarchy holds (gemma strongest at ~93%), but absolute scores must be read as mean ± 3–6.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Recommendations: gemma-E2B at t0.40/p0.65/k10 and gpt-oss-120b at t0.30/p0.98/k20 — reporting confirmation means (93.2 and 86.3); keep defaults for qwen3.6-A3B (sampling-insensitive, best observed 95.5). MoEs are the choice for energy-bounded deployments. Limitation: the noisy objective inflates single-shot winners by 2.3–6.1 points. Future work: average k≥3 evaluations per trial or use a noise-aware GP, and a larger fixture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48840"/>
            <a:ext cx="1036015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VideoSearcher AgenticAI</a:t>
            </a:r>
          </a:p>
          <a:p>
            <a:pPr algn="ctr">
              <a:spcBef>
                <a:spcPts val="1400"/>
              </a:spcBef>
            </a:pPr>
            <a:r>
              <a:rPr sz="2400" b="0">
                <a:solidFill>
                  <a:srgbClr val="CADCFC"/>
                </a:solidFill>
                <a:latin typeface="Calibri"/>
              </a:rPr>
              <a:t>Orchestrator LLM benchmark &amp; sampling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92040"/>
            <a:ext cx="10360152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>
                <a:solidFill>
                  <a:srgbClr val="FFFFFF"/>
                </a:solidFill>
                <a:latin typeface="Calibri"/>
              </a:rPr>
              <a:t>Stefano Garzoni, Daniel Guarnizo, Leonardo Scappatura</a:t>
            </a:r>
            <a:endParaRPr sz="1800" b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600"/>
              </a:spcBef>
            </a:pPr>
            <a:r>
              <a:rPr sz="1500" b="0" err="1">
                <a:solidFill>
                  <a:srgbClr val="CADCFC"/>
                </a:solidFill>
                <a:latin typeface="Calibri"/>
              </a:rPr>
              <a:t>Politecnico</a:t>
            </a:r>
            <a:r>
              <a:rPr sz="1500" b="0">
                <a:solidFill>
                  <a:srgbClr val="CADCFC"/>
                </a:solidFill>
                <a:latin typeface="Calibri"/>
              </a:rPr>
              <a:t> di Milano  ·  </a:t>
            </a:r>
            <a:r>
              <a:rPr lang="it-IT" sz="1500">
                <a:solidFill>
                  <a:srgbClr val="CADCFC"/>
                </a:solidFill>
                <a:latin typeface="Calibri"/>
              </a:rPr>
              <a:t>21/07/2026</a:t>
            </a:r>
            <a:endParaRPr sz="1500" b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9AA7C0"/>
                </a:solidFill>
                <a:latin typeface="Calibri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2/13</a:t>
            </a:r>
          </a:p>
        </p:txBody>
      </p:sp>
      <p:pic>
        <p:nvPicPr>
          <p:cNvPr id="13" name="Immagin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8CEFDE-BA20-8E89-91E7-DB035C60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"/>
          <a:stretch>
            <a:fillRect/>
          </a:stretch>
        </p:blipFill>
        <p:spPr>
          <a:xfrm>
            <a:off x="1988457" y="946604"/>
            <a:ext cx="8222337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Benchmark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3/13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92807" y="1097280"/>
          <a:ext cx="84124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qwen3.6-35B-A3B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35B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MoE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gemma-4-12b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12B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gemma-4-E2B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5B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qwen3.6-27B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27B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gpt-oss-120b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120B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MoE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92807" y="4343400"/>
            <a:ext cx="8778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</a:t>
            </a:r>
            <a:r>
              <a:rPr sz="1600" b="1">
                <a:solidFill>
                  <a:srgbClr val="212121"/>
                </a:solidFill>
                <a:latin typeface="Calibri"/>
              </a:rPr>
              <a:t>14</a:t>
            </a:r>
            <a:r>
              <a:rPr sz="1600" b="0">
                <a:solidFill>
                  <a:srgbClr val="212121"/>
                </a:solidFill>
                <a:latin typeface="Calibri"/>
              </a:rPr>
              <a:t> metrics recorded per run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Defaults sampling; full </a:t>
            </a:r>
            <a:r>
              <a:rPr sz="1600" b="1">
                <a:solidFill>
                  <a:srgbClr val="212121"/>
                </a:solidFill>
                <a:latin typeface="Calibri"/>
              </a:rPr>
              <a:t>66</a:t>
            </a:r>
            <a:r>
              <a:rPr sz="1600" b="0">
                <a:solidFill>
                  <a:srgbClr val="212121"/>
                </a:solidFill>
                <a:latin typeface="Calibri"/>
              </a:rPr>
              <a:t>-run suite per 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Hardware: DGX GB10, </a:t>
            </a:r>
            <a:r>
              <a:rPr sz="1600" b="1">
                <a:solidFill>
                  <a:srgbClr val="212121"/>
                </a:solidFill>
                <a:latin typeface="Calibri"/>
              </a:rPr>
              <a:t>128 GB</a:t>
            </a:r>
            <a:r>
              <a:rPr sz="1600" b="0">
                <a:solidFill>
                  <a:srgbClr val="212121"/>
                </a:solidFill>
                <a:latin typeface="Calibri"/>
              </a:rPr>
              <a:t> unified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Benchmark results — 66-run suite, defaults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4/13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87969"/>
              </p:ext>
            </p:extLst>
          </p:nvPr>
        </p:nvGraphicFramePr>
        <p:xfrm>
          <a:off x="274320" y="1051560"/>
          <a:ext cx="11640312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Overall %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Handoff %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Vision %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 %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Energy (Wh/suite)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passes/kWh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qwen3.6-35B-A3B (35B MoE)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95.5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95.5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1212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29.1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2163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gemma-4-12b (12B dense)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93.9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121"/>
                          </a:solidFill>
                          <a:latin typeface="Calibri"/>
                        </a:rPr>
                        <a:t>97.0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1212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92.6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92.8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gemma-4-E2B (5B dense)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90.9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93.9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88.9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92.6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1701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qwen3.6-27B (27B dense)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87.9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89.4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1212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96.3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86.5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670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gpt-oss-120b (120B MoE)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87.9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87.9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88.9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96.3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28.3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12121"/>
                          </a:solidFill>
                          <a:latin typeface="Calibri"/>
                        </a:rPr>
                        <a:t>2050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MoEs lead accuracy and energy efficiency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Dense models pay ~</a:t>
            </a:r>
            <a:r>
              <a:rPr sz="1600" b="1">
                <a:solidFill>
                  <a:srgbClr val="212121"/>
                </a:solidFill>
                <a:latin typeface="Calibri"/>
              </a:rPr>
              <a:t>3×</a:t>
            </a:r>
            <a:r>
              <a:rPr sz="1600" b="0">
                <a:solidFill>
                  <a:srgbClr val="212121"/>
                </a:solidFill>
                <a:latin typeface="Calibri"/>
              </a:rPr>
              <a:t> energy per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Accuracy vs energy — Pareto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5/13</a:t>
            </a:r>
          </a:p>
        </p:txBody>
      </p:sp>
      <p:pic>
        <p:nvPicPr>
          <p:cNvPr id="4" name="Picture 3" descr="p6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458735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07374" y="1371600"/>
            <a:ext cx="28185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MoEs own the accuracy–energy Pareto frontier</a:t>
            </a:r>
          </a:p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a3b: </a:t>
            </a:r>
            <a:r>
              <a:rPr sz="1450" b="1">
                <a:solidFill>
                  <a:srgbClr val="212121"/>
                </a:solidFill>
                <a:latin typeface="Calibri"/>
              </a:rPr>
              <a:t>95.5%</a:t>
            </a:r>
            <a:r>
              <a:rPr sz="1450" b="0">
                <a:solidFill>
                  <a:srgbClr val="212121"/>
                </a:solidFill>
                <a:latin typeface="Calibri"/>
              </a:rPr>
              <a:t> at </a:t>
            </a:r>
            <a:r>
              <a:rPr sz="1450" b="1">
                <a:solidFill>
                  <a:srgbClr val="212121"/>
                </a:solidFill>
                <a:latin typeface="Calibri"/>
              </a:rPr>
              <a:t>29.1 Wh</a:t>
            </a:r>
            <a:r>
              <a:rPr sz="1450" b="0">
                <a:solidFill>
                  <a:srgbClr val="212121"/>
                </a:solidFill>
                <a:latin typeface="Calibri"/>
              </a:rPr>
              <a:t> → </a:t>
            </a:r>
            <a:r>
              <a:rPr sz="1450" b="1">
                <a:solidFill>
                  <a:srgbClr val="212121"/>
                </a:solidFill>
                <a:latin typeface="Calibri"/>
              </a:rPr>
              <a:t>2163</a:t>
            </a:r>
            <a:r>
              <a:rPr sz="1450" b="0">
                <a:solidFill>
                  <a:srgbClr val="212121"/>
                </a:solidFill>
                <a:latin typeface="Calibri"/>
              </a:rPr>
              <a:t> passes/kWh</a:t>
            </a:r>
          </a:p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Dense models pay ~</a:t>
            </a:r>
            <a:r>
              <a:rPr sz="1450" b="1">
                <a:solidFill>
                  <a:srgbClr val="212121"/>
                </a:solidFill>
                <a:latin typeface="Calibri"/>
              </a:rPr>
              <a:t>3×</a:t>
            </a:r>
            <a:r>
              <a:rPr sz="1450" b="0">
                <a:solidFill>
                  <a:srgbClr val="212121"/>
                </a:solidFill>
                <a:latin typeface="Calibri"/>
              </a:rPr>
              <a:t>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Robustness by prompt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6/13</a:t>
            </a:r>
          </a:p>
        </p:txBody>
      </p:sp>
      <p:pic>
        <p:nvPicPr>
          <p:cNvPr id="4" name="Picture 3" descr="p7_prompt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9199659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02579" y="1371600"/>
            <a:ext cx="2214796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Algorithmic prompts near-saturated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Vague prompts separate the models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gpt-oss: </a:t>
            </a:r>
            <a:r>
              <a:rPr sz="1400" b="1">
                <a:solidFill>
                  <a:srgbClr val="212121"/>
                </a:solidFill>
                <a:latin typeface="Calibri"/>
              </a:rPr>
              <a:t>81.8%</a:t>
            </a:r>
            <a:r>
              <a:rPr sz="1400" b="0">
                <a:solidFill>
                  <a:srgbClr val="212121"/>
                </a:solidFill>
                <a:latin typeface="Calibri"/>
              </a:rPr>
              <a:t> on vague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Sampling tuning — d-MALIBOO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Grid: temperature × top-p × top-k = </a:t>
            </a:r>
            <a:r>
              <a:rPr sz="1700" b="1">
                <a:solidFill>
                  <a:srgbClr val="212121"/>
                </a:solidFill>
                <a:latin typeface="Calibri"/>
              </a:rPr>
              <a:t>384</a:t>
            </a:r>
            <a:r>
              <a:rPr sz="1700" b="0">
                <a:solidFill>
                  <a:srgbClr val="212121"/>
                </a:solidFill>
                <a:latin typeface="Calibri"/>
              </a:rPr>
              <a:t> combos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t {0.2..0.9} · p {0.65, 0.70, 0.77, 0.84, 0.91, 0.98} · k {10..80}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Budget: </a:t>
            </a:r>
            <a:r>
              <a:rPr sz="1700" b="1">
                <a:solidFill>
                  <a:srgbClr val="212121"/>
                </a:solidFill>
                <a:latin typeface="Calibri"/>
              </a:rPr>
              <a:t>5</a:t>
            </a:r>
            <a:r>
              <a:rPr sz="1700" b="0">
                <a:solidFill>
                  <a:srgbClr val="212121"/>
                </a:solidFill>
                <a:latin typeface="Calibri"/>
              </a:rPr>
              <a:t> random init + </a:t>
            </a:r>
            <a:r>
              <a:rPr sz="1700" b="1">
                <a:solidFill>
                  <a:srgbClr val="212121"/>
                </a:solidFill>
                <a:latin typeface="Calibri"/>
              </a:rPr>
              <a:t>95</a:t>
            </a:r>
            <a:r>
              <a:rPr sz="1700" b="0">
                <a:solidFill>
                  <a:srgbClr val="212121"/>
                </a:solidFill>
                <a:latin typeface="Calibri"/>
              </a:rPr>
              <a:t> guided trials per model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d-MALIBOO (PoliMI): Gaussian-Process surrogate, Matérn kernel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Expected Improvement augmented by ML model (MLP classifier)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Trials guided, not random; objective = suite Overall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Convergence of the guided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8/13</a:t>
            </a:r>
          </a:p>
        </p:txBody>
      </p:sp>
      <p:pic>
        <p:nvPicPr>
          <p:cNvPr id="4" name="Picture 3" descr="p1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648" y="822960"/>
            <a:ext cx="922039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212121"/>
                </a:solidFill>
                <a:latin typeface="Calibri"/>
              </a:rPr>
              <a:t>•  </a:t>
            </a:r>
            <a:r>
              <a:rPr sz="1500" b="1">
                <a:solidFill>
                  <a:srgbClr val="212121"/>
                </a:solidFill>
                <a:latin typeface="Calibri"/>
              </a:rPr>
              <a:t>5</a:t>
            </a:r>
            <a:r>
              <a:rPr sz="1500" b="0">
                <a:solidFill>
                  <a:srgbClr val="212121"/>
                </a:solidFill>
                <a:latin typeface="Calibri"/>
              </a:rPr>
              <a:t> random init, then guided trials      •  Plateaus reached within ~</a:t>
            </a:r>
            <a:r>
              <a:rPr sz="1500" b="1">
                <a:solidFill>
                  <a:srgbClr val="212121"/>
                </a:solidFill>
                <a:latin typeface="Calibri"/>
              </a:rPr>
              <a:t>20–50</a:t>
            </a:r>
            <a:r>
              <a:rPr sz="1500" b="0">
                <a:solidFill>
                  <a:srgbClr val="212121"/>
                </a:solidFill>
                <a:latin typeface="Calibri"/>
              </a:rPr>
              <a:t> trials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Search-space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9/13</a:t>
            </a:r>
          </a:p>
        </p:txBody>
      </p:sp>
      <p:pic>
        <p:nvPicPr>
          <p:cNvPr id="4" name="Picture 3" descr="p2_search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313" y="822960"/>
            <a:ext cx="951906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212121"/>
                </a:solidFill>
                <a:latin typeface="Calibri"/>
              </a:rPr>
              <a:t>•  gemma: broad low-temp / low-k plateau      •  a3b: flat      •  gray cells: never sampled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Exploration path — winner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10/13</a:t>
            </a:r>
          </a:p>
        </p:txBody>
      </p:sp>
      <p:pic>
        <p:nvPicPr>
          <p:cNvPr id="4" name="Picture 3" descr="p3_explo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7700618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94978" y="1463040"/>
            <a:ext cx="3622397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Exploration → exploitation on the winner model</a:t>
            </a:r>
          </a:p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Random-init squares; early→late color ramp</a:t>
            </a:r>
          </a:p>
          <a:p>
            <a:pPr>
              <a:spcAft>
                <a:spcPts val="12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•  Winner starred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Sampling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11/13</a:t>
            </a:r>
          </a:p>
        </p:txBody>
      </p:sp>
      <p:pic>
        <p:nvPicPr>
          <p:cNvPr id="4" name="Picture 3" descr="p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8526948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29868" y="1280160"/>
            <a:ext cx="2887506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gpt-oss spans </a:t>
            </a:r>
            <a:r>
              <a:rPr sz="1400" b="1">
                <a:solidFill>
                  <a:srgbClr val="212121"/>
                </a:solidFill>
                <a:latin typeface="Calibri"/>
              </a:rPr>
              <a:t>13.6</a:t>
            </a:r>
            <a:r>
              <a:rPr sz="1400" b="0">
                <a:solidFill>
                  <a:srgbClr val="212121"/>
                </a:solidFill>
                <a:latin typeface="Calibri"/>
              </a:rPr>
              <a:t> pts — sampling matters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a3b spans </a:t>
            </a:r>
            <a:r>
              <a:rPr sz="1400" b="1">
                <a:solidFill>
                  <a:srgbClr val="212121"/>
                </a:solidFill>
                <a:latin typeface="Calibri"/>
              </a:rPr>
              <a:t>6</a:t>
            </a:r>
            <a:r>
              <a:rPr sz="1400" b="0">
                <a:solidFill>
                  <a:srgbClr val="212121"/>
                </a:solidFill>
                <a:latin typeface="Calibri"/>
              </a:rPr>
              <a:t> (</a:t>
            </a:r>
            <a:r>
              <a:rPr sz="1400" b="1">
                <a:solidFill>
                  <a:srgbClr val="212121"/>
                </a:solidFill>
                <a:latin typeface="Calibri"/>
              </a:rPr>
              <a:t>107</a:t>
            </a:r>
            <a:r>
              <a:rPr sz="1400" b="0">
                <a:solidFill>
                  <a:srgbClr val="212121"/>
                </a:solidFill>
                <a:latin typeface="Calibri"/>
              </a:rPr>
              <a:t> configs, </a:t>
            </a:r>
            <a:r>
              <a:rPr sz="1400" b="1">
                <a:solidFill>
                  <a:srgbClr val="212121"/>
                </a:solidFill>
                <a:latin typeface="Calibri"/>
              </a:rPr>
              <a:t>86.4–92.4</a:t>
            </a:r>
            <a:r>
              <a:rPr sz="1400" b="0">
                <a:solidFill>
                  <a:srgbClr val="212121"/>
                </a:solidFill>
                <a:latin typeface="Calibri"/>
              </a:rPr>
              <a:t>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a3b default </a:t>
            </a:r>
            <a:r>
              <a:rPr sz="1400" b="1">
                <a:solidFill>
                  <a:srgbClr val="212121"/>
                </a:solidFill>
                <a:latin typeface="Calibri"/>
              </a:rPr>
              <a:t>95.5</a:t>
            </a:r>
            <a:r>
              <a:rPr sz="1400" b="0">
                <a:solidFill>
                  <a:srgbClr val="212121"/>
                </a:solidFill>
                <a:latin typeface="Calibri"/>
              </a:rPr>
              <a:t> wins → tuning not useful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Noise &amp; optimizer bias — confirmation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12/13</a:t>
            </a:r>
          </a:p>
        </p:txBody>
      </p:sp>
      <p:pic>
        <p:nvPicPr>
          <p:cNvPr id="4" name="Picture 3" descr="p4_noise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7038484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7123" y="1234440"/>
            <a:ext cx="4330251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Single-shot winners inflated </a:t>
            </a:r>
            <a:r>
              <a:rPr sz="1400" b="1">
                <a:solidFill>
                  <a:srgbClr val="212121"/>
                </a:solidFill>
                <a:latin typeface="Calibri"/>
              </a:rPr>
              <a:t>2.3–6.1</a:t>
            </a:r>
            <a:r>
              <a:rPr sz="1400" b="0">
                <a:solidFill>
                  <a:srgbClr val="212121"/>
                </a:solidFill>
                <a:latin typeface="Calibri"/>
              </a:rPr>
              <a:t> pts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Run-to-run spread </a:t>
            </a:r>
            <a:r>
              <a:rPr sz="1400" b="1">
                <a:solidFill>
                  <a:srgbClr val="212121"/>
                </a:solidFill>
                <a:latin typeface="Calibri"/>
              </a:rPr>
              <a:t>1.5–3.1</a:t>
            </a:r>
            <a:r>
              <a:rPr sz="1400" b="0">
                <a:solidFill>
                  <a:srgbClr val="212121"/>
                </a:solidFill>
                <a:latin typeface="Calibri"/>
              </a:rPr>
              <a:t> pts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Report confirmation means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709160"/>
          <a:ext cx="116403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single-shot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repeats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gemma-E2B t0.40/p0.65/k10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95.5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93.9 · 92.4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93.2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−2.3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gpt-oss t0.30/p0.98/k20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92.4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84.8 · 87.9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86.3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−6.1</a:t>
                      </a:r>
                    </a:p>
                  </a:txBody>
                  <a:tcPr marL="73152" marR="73152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qwen3.6-A3B defaults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95.5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Calibri"/>
                        </a:rPr>
                        <a:t>89.4 · 90.9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90.2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Calibri"/>
                        </a:rPr>
                        <a:t>−5.3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0" rIns="27432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13/13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gemma-E2B: </a:t>
            </a:r>
            <a:r>
              <a:rPr sz="1700" b="1">
                <a:solidFill>
                  <a:srgbClr val="212121"/>
                </a:solidFill>
                <a:latin typeface="Calibri"/>
              </a:rPr>
              <a:t>t0.40 / p0.65 / k10</a:t>
            </a:r>
            <a:r>
              <a:rPr sz="1700" b="0">
                <a:solidFill>
                  <a:srgbClr val="212121"/>
                </a:solidFill>
                <a:latin typeface="Calibri"/>
              </a:rPr>
              <a:t> — confirmed mean </a:t>
            </a:r>
            <a:r>
              <a:rPr sz="1700" b="1">
                <a:solidFill>
                  <a:srgbClr val="212121"/>
                </a:solidFill>
                <a:latin typeface="Calibri"/>
              </a:rPr>
              <a:t>93.2%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gpt-oss-120b: </a:t>
            </a:r>
            <a:r>
              <a:rPr sz="1700" b="1">
                <a:solidFill>
                  <a:srgbClr val="212121"/>
                </a:solidFill>
                <a:latin typeface="Calibri"/>
              </a:rPr>
              <a:t>t0.30 / p0.98 / k20</a:t>
            </a:r>
            <a:r>
              <a:rPr sz="1700" b="0">
                <a:solidFill>
                  <a:srgbClr val="212121"/>
                </a:solidFill>
                <a:latin typeface="Calibri"/>
              </a:rPr>
              <a:t> — confirmed mean </a:t>
            </a:r>
            <a:r>
              <a:rPr sz="1700" b="1">
                <a:solidFill>
                  <a:srgbClr val="212121"/>
                </a:solidFill>
                <a:latin typeface="Calibri"/>
              </a:rPr>
              <a:t>86.3%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qwen3.6-A3B: keep defaults — best observed </a:t>
            </a:r>
            <a:r>
              <a:rPr sz="1700" b="1">
                <a:solidFill>
                  <a:srgbClr val="212121"/>
                </a:solidFill>
                <a:latin typeface="Calibri"/>
              </a:rPr>
              <a:t>95.5%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MoE models for energy-bounded deployments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Limitation: noisy objective → single-shot winners optimistically biased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Future work: </a:t>
            </a:r>
            <a:r>
              <a:rPr sz="1700" b="1">
                <a:solidFill>
                  <a:srgbClr val="212121"/>
                </a:solidFill>
                <a:latin typeface="Calibri"/>
              </a:rPr>
              <a:t>k≥3</a:t>
            </a:r>
            <a:r>
              <a:rPr sz="1700" b="0">
                <a:solidFill>
                  <a:srgbClr val="212121"/>
                </a:solidFill>
                <a:latin typeface="Calibri"/>
              </a:rPr>
              <a:t> averaging per trial, noise-aware GP, larger fixture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Macintosh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Leonardo Scappatura</cp:lastModifiedBy>
  <cp:revision>1</cp:revision>
  <dcterms:created xsi:type="dcterms:W3CDTF">2013-01-27T09:14:16Z</dcterms:created>
  <dcterms:modified xsi:type="dcterms:W3CDTF">2026-07-23T14:23:58Z</dcterms:modified>
  <cp:category/>
</cp:coreProperties>
</file>